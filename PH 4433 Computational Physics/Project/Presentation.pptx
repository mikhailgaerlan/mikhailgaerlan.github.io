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gif" ContentType="image/gif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2" r:id="rId1"/>
  </p:sldMasterIdLst>
  <p:sldIdLst>
    <p:sldId id="259" r:id="rId2"/>
    <p:sldId id="272" r:id="rId3"/>
    <p:sldId id="263" r:id="rId4"/>
    <p:sldId id="261" r:id="rId5"/>
    <p:sldId id="266" r:id="rId6"/>
    <p:sldId id="273" r:id="rId7"/>
    <p:sldId id="276" r:id="rId8"/>
    <p:sldId id="277" r:id="rId9"/>
    <p:sldId id="274" r:id="rId10"/>
    <p:sldId id="275" r:id="rId11"/>
    <p:sldId id="264" r:id="rId12"/>
    <p:sldId id="271" r:id="rId13"/>
    <p:sldId id="265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3D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72" y="-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interSettings" Target="printerSettings/printerSettings1.bin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EC368-1D7A-4F81-ABF6-AE0E36BAF64C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5DCC2482-4D4F-5942-B6A4-2DF638281EA8}" type="datetimeFigureOut">
              <a:rPr lang="en-US" smtClean="0"/>
              <a:t>12/8/15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C10DDB7A-D514-5647-A369-0904092A7E1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gif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Multi-objective optimization using genetic algorithms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Mikhail Gaerlan</a:t>
            </a:r>
          </a:p>
          <a:p>
            <a:r>
              <a:rPr lang="en-US" dirty="0" smtClean="0"/>
              <a:t>Computational Physics</a:t>
            </a:r>
          </a:p>
          <a:p>
            <a:r>
              <a:rPr lang="en-US" dirty="0" smtClean="0"/>
              <a:t>8 December 2015</a:t>
            </a:r>
          </a:p>
        </p:txBody>
      </p:sp>
    </p:spTree>
    <p:extLst>
      <p:ext uri="{BB962C8B-B14F-4D97-AF65-F5344CB8AC3E}">
        <p14:creationId xmlns:p14="http://schemas.microsoft.com/office/powerpoint/2010/main" val="200634512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Definitions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Optimization – minimization (maximization)</a:t>
            </a:r>
          </a:p>
          <a:p>
            <a:r>
              <a:rPr lang="en-US" dirty="0" smtClean="0"/>
              <a:t>Objective – function to optimize</a:t>
            </a:r>
          </a:p>
          <a:p>
            <a:pPr lvl="1"/>
            <a:r>
              <a:rPr lang="en-US" dirty="0" smtClean="0"/>
              <a:t>Single-objective – one function</a:t>
            </a:r>
          </a:p>
          <a:p>
            <a:pPr lvl="1"/>
            <a:r>
              <a:rPr lang="en-US" dirty="0" smtClean="0"/>
              <a:t>Multi-objective – two or more functions</a:t>
            </a:r>
          </a:p>
          <a:p>
            <a:r>
              <a:rPr lang="en-US" dirty="0" smtClean="0"/>
              <a:t>Genetic algorithm – optimization algorithm which uses the principles of evolutionary biology</a:t>
            </a:r>
          </a:p>
          <a:p>
            <a:r>
              <a:rPr lang="en-US" dirty="0" smtClean="0"/>
              <a:t>Genetic operator – selection, crossover, mutation</a:t>
            </a:r>
          </a:p>
          <a:p>
            <a:r>
              <a:rPr lang="en-US" dirty="0" smtClean="0"/>
              <a:t>Population – set of solutions</a:t>
            </a:r>
          </a:p>
          <a:p>
            <a:r>
              <a:rPr lang="en-US" dirty="0" smtClean="0"/>
              <a:t>Individual – single solution</a:t>
            </a:r>
          </a:p>
          <a:p>
            <a:r>
              <a:rPr lang="en-US" dirty="0" smtClean="0"/>
              <a:t>Pareto front – set of non-dominated solutions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25645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Genetic Algorithm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97808" y="2605824"/>
            <a:ext cx="2794000" cy="855133"/>
          </a:xfrm>
          <a:prstGeom prst="rect">
            <a:avLst/>
          </a:prstGeom>
          <a:solidFill>
            <a:srgbClr val="C53D2E"/>
          </a:solidFill>
          <a:ln>
            <a:solidFill>
              <a:srgbClr val="9F0E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Selection</a:t>
            </a:r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5288808" y="4311853"/>
            <a:ext cx="2794000" cy="855133"/>
          </a:xfrm>
          <a:prstGeom prst="rect">
            <a:avLst/>
          </a:prstGeom>
          <a:solidFill>
            <a:srgbClr val="C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Crossover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288808" y="2605824"/>
            <a:ext cx="2794000" cy="855133"/>
          </a:xfrm>
          <a:prstGeom prst="rect">
            <a:avLst/>
          </a:prstGeom>
          <a:solidFill>
            <a:srgbClr val="C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Mutation</a:t>
            </a:r>
          </a:p>
        </p:txBody>
      </p:sp>
      <p:sp>
        <p:nvSpPr>
          <p:cNvPr id="7" name="Diamond 6"/>
          <p:cNvSpPr/>
          <p:nvPr/>
        </p:nvSpPr>
        <p:spPr>
          <a:xfrm>
            <a:off x="1555008" y="3799620"/>
            <a:ext cx="1879600" cy="1879600"/>
          </a:xfrm>
          <a:prstGeom prst="diamond">
            <a:avLst/>
          </a:prstGeom>
          <a:solidFill>
            <a:srgbClr val="C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Criteria Met?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1097808" y="1488224"/>
            <a:ext cx="2794000" cy="855133"/>
          </a:xfrm>
          <a:prstGeom prst="rect">
            <a:avLst/>
          </a:prstGeom>
          <a:solidFill>
            <a:srgbClr val="C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Initialization</a:t>
            </a:r>
            <a:endParaRPr lang="en-US" sz="3200" dirty="0"/>
          </a:p>
        </p:txBody>
      </p:sp>
      <p:cxnSp>
        <p:nvCxnSpPr>
          <p:cNvPr id="9" name="Straight Arrow Connector 8"/>
          <p:cNvCxnSpPr>
            <a:stCxn id="8" idx="2"/>
            <a:endCxn id="4" idx="0"/>
          </p:cNvCxnSpPr>
          <p:nvPr/>
        </p:nvCxnSpPr>
        <p:spPr>
          <a:xfrm>
            <a:off x="2494808" y="2343357"/>
            <a:ext cx="0" cy="262467"/>
          </a:xfrm>
          <a:prstGeom prst="straightConnector1">
            <a:avLst/>
          </a:prstGeom>
          <a:ln>
            <a:solidFill>
              <a:srgbClr val="C53D2E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stCxn id="4" idx="2"/>
            <a:endCxn id="7" idx="0"/>
          </p:cNvCxnSpPr>
          <p:nvPr/>
        </p:nvCxnSpPr>
        <p:spPr>
          <a:xfrm>
            <a:off x="2494808" y="3460957"/>
            <a:ext cx="0" cy="338663"/>
          </a:xfrm>
          <a:prstGeom prst="straightConnector1">
            <a:avLst/>
          </a:prstGeom>
          <a:ln>
            <a:solidFill>
              <a:srgbClr val="C53D2E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stCxn id="7" idx="3"/>
            <a:endCxn id="5" idx="1"/>
          </p:cNvCxnSpPr>
          <p:nvPr/>
        </p:nvCxnSpPr>
        <p:spPr>
          <a:xfrm>
            <a:off x="3434608" y="4739420"/>
            <a:ext cx="1854200" cy="0"/>
          </a:xfrm>
          <a:prstGeom prst="straightConnector1">
            <a:avLst/>
          </a:prstGeom>
          <a:ln>
            <a:solidFill>
              <a:srgbClr val="C53D2E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stCxn id="5" idx="0"/>
            <a:endCxn id="6" idx="2"/>
          </p:cNvCxnSpPr>
          <p:nvPr/>
        </p:nvCxnSpPr>
        <p:spPr>
          <a:xfrm flipV="1">
            <a:off x="6685808" y="3460957"/>
            <a:ext cx="0" cy="850896"/>
          </a:xfrm>
          <a:prstGeom prst="straightConnector1">
            <a:avLst/>
          </a:prstGeom>
          <a:ln>
            <a:solidFill>
              <a:srgbClr val="C53D2E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6" idx="1"/>
            <a:endCxn id="4" idx="3"/>
          </p:cNvCxnSpPr>
          <p:nvPr/>
        </p:nvCxnSpPr>
        <p:spPr>
          <a:xfrm flipH="1">
            <a:off x="3891808" y="3033391"/>
            <a:ext cx="1397000" cy="0"/>
          </a:xfrm>
          <a:prstGeom prst="straightConnector1">
            <a:avLst/>
          </a:prstGeom>
          <a:ln>
            <a:solidFill>
              <a:srgbClr val="C53D2E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417676" y="5679220"/>
            <a:ext cx="2794000" cy="855133"/>
          </a:xfrm>
          <a:prstGeom prst="rect">
            <a:avLst/>
          </a:prstGeom>
          <a:solidFill>
            <a:srgbClr val="C53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/>
              <a:t>Termination</a:t>
            </a:r>
          </a:p>
        </p:txBody>
      </p:sp>
      <p:cxnSp>
        <p:nvCxnSpPr>
          <p:cNvPr id="15" name="Elbow Connector 14"/>
          <p:cNvCxnSpPr>
            <a:stCxn id="7" idx="2"/>
            <a:endCxn id="14" idx="1"/>
          </p:cNvCxnSpPr>
          <p:nvPr/>
        </p:nvCxnSpPr>
        <p:spPr>
          <a:xfrm rot="16200000" flipH="1">
            <a:off x="2742459" y="5431569"/>
            <a:ext cx="427567" cy="922868"/>
          </a:xfrm>
          <a:prstGeom prst="bentConnector2">
            <a:avLst/>
          </a:prstGeom>
          <a:ln>
            <a:solidFill>
              <a:srgbClr val="C53D2E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891808" y="4172419"/>
            <a:ext cx="880534" cy="5670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C53D2E"/>
                </a:solidFill>
              </a:rPr>
              <a:t>No</a:t>
            </a:r>
            <a:endParaRPr lang="en-US" sz="2400" dirty="0">
              <a:solidFill>
                <a:srgbClr val="C53D2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2486342" y="5556719"/>
            <a:ext cx="880534" cy="567001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smtClean="0">
                <a:solidFill>
                  <a:srgbClr val="C53D2E"/>
                </a:solidFill>
              </a:rPr>
              <a:t>Yes</a:t>
            </a:r>
            <a:endParaRPr lang="en-US" sz="2400" dirty="0">
              <a:solidFill>
                <a:srgbClr val="C53D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4695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14" grpId="0" animBg="1"/>
      <p:bldP spid="16" grpId="0"/>
      <p:bldP spid="1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Selection</a:t>
            </a:r>
            <a:endParaRPr lang="en-US" dirty="0"/>
          </a:p>
        </p:txBody>
      </p:sp>
      <p:pic>
        <p:nvPicPr>
          <p:cNvPr id="4" name="Picture 3" descr="front1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343" y="1734432"/>
            <a:ext cx="6763314" cy="4572000"/>
          </a:xfrm>
          <a:prstGeom prst="rect">
            <a:avLst/>
          </a:prstGeom>
        </p:spPr>
      </p:pic>
      <p:pic>
        <p:nvPicPr>
          <p:cNvPr id="8" name="Picture 7" descr="front2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343" y="1734432"/>
            <a:ext cx="6763314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6911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Crossover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One</a:t>
            </a:r>
            <a:r>
              <a:rPr lang="en-US" dirty="0"/>
              <a:t>-point </a:t>
            </a:r>
            <a:r>
              <a:rPr lang="en-US" dirty="0" smtClean="0"/>
              <a:t>crossover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/>
              <a:t>Two-point </a:t>
            </a:r>
            <a:r>
              <a:rPr lang="en-US" dirty="0" smtClean="0"/>
              <a:t>crossover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Uniform </a:t>
            </a:r>
            <a:r>
              <a:rPr lang="en-US" dirty="0" smtClean="0"/>
              <a:t>crossover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353733" y="2315583"/>
            <a:ext cx="2057400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11133" y="2315583"/>
            <a:ext cx="2057400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353733" y="3016623"/>
            <a:ext cx="2057400" cy="228600"/>
          </a:xfrm>
          <a:prstGeom prst="rect">
            <a:avLst/>
          </a:prstGeom>
          <a:solidFill>
            <a:srgbClr val="4C5A6A"/>
          </a:solidFill>
          <a:ln>
            <a:solidFill>
              <a:srgbClr val="4C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411133" y="3016623"/>
            <a:ext cx="2057400" cy="228600"/>
          </a:xfrm>
          <a:prstGeom prst="rect">
            <a:avLst/>
          </a:prstGeom>
          <a:solidFill>
            <a:srgbClr val="4C5A6A"/>
          </a:solidFill>
          <a:ln>
            <a:solidFill>
              <a:srgbClr val="4C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411133" y="3016623"/>
            <a:ext cx="2057400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411133" y="2315583"/>
            <a:ext cx="2057400" cy="228600"/>
          </a:xfrm>
          <a:prstGeom prst="rect">
            <a:avLst/>
          </a:prstGeom>
          <a:solidFill>
            <a:srgbClr val="4C5A6A"/>
          </a:solidFill>
          <a:ln>
            <a:solidFill>
              <a:srgbClr val="4C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353733" y="4163060"/>
            <a:ext cx="1371600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725333" y="4163060"/>
            <a:ext cx="1371600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5096933" y="4163060"/>
            <a:ext cx="1371600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2353733" y="4864100"/>
            <a:ext cx="1371600" cy="228600"/>
          </a:xfrm>
          <a:prstGeom prst="rect">
            <a:avLst/>
          </a:prstGeom>
          <a:solidFill>
            <a:srgbClr val="4C5A6A"/>
          </a:solidFill>
          <a:ln>
            <a:solidFill>
              <a:srgbClr val="4C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725333" y="4864100"/>
            <a:ext cx="1371600" cy="228600"/>
          </a:xfrm>
          <a:prstGeom prst="rect">
            <a:avLst/>
          </a:prstGeom>
          <a:solidFill>
            <a:srgbClr val="4C5A6A"/>
          </a:solidFill>
          <a:ln>
            <a:solidFill>
              <a:srgbClr val="4C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5096933" y="4864100"/>
            <a:ext cx="1371600" cy="228600"/>
          </a:xfrm>
          <a:prstGeom prst="rect">
            <a:avLst/>
          </a:prstGeom>
          <a:solidFill>
            <a:srgbClr val="4C5A6A"/>
          </a:solidFill>
          <a:ln>
            <a:solidFill>
              <a:srgbClr val="4C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725333" y="4864100"/>
            <a:ext cx="1371600" cy="228600"/>
          </a:xfrm>
          <a:prstGeom prst="rect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725333" y="4163060"/>
            <a:ext cx="1371600" cy="228600"/>
          </a:xfrm>
          <a:prstGeom prst="rect">
            <a:avLst/>
          </a:prstGeom>
          <a:solidFill>
            <a:srgbClr val="4C5A6A"/>
          </a:solidFill>
          <a:ln>
            <a:solidFill>
              <a:srgbClr val="4C5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41128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32" grpId="0" animBg="1"/>
      <p:bldP spid="3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Gaussian</a:t>
            </a:r>
          </a:p>
          <a:p>
            <a:r>
              <a:rPr lang="en-US" dirty="0" smtClean="0"/>
              <a:t>Flip bit</a:t>
            </a:r>
            <a:endParaRPr lang="en-US" dirty="0"/>
          </a:p>
        </p:txBody>
      </p:sp>
      <p:sp>
        <p:nvSpPr>
          <p:cNvPr id="34" name="TextBox 33"/>
          <p:cNvSpPr txBox="1"/>
          <p:nvPr/>
        </p:nvSpPr>
        <p:spPr>
          <a:xfrm>
            <a:off x="1419323" y="3632610"/>
            <a:ext cx="66478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latin typeface="CMU Typewriter Text Regular"/>
                <a:cs typeface="CMU Typewriter Text Regular"/>
              </a:rPr>
              <a:t>0</a:t>
            </a:r>
            <a:r>
              <a:rPr lang="en-US" sz="4800" dirty="0">
                <a:latin typeface="CMU Typewriter Text Regular"/>
                <a:cs typeface="CMU Typewriter Text Regular"/>
              </a:rPr>
              <a:t> </a:t>
            </a:r>
            <a:r>
              <a:rPr lang="en-US" sz="4800" dirty="0" smtClean="0">
                <a:latin typeface="CMU Typewriter Text Regular"/>
                <a:cs typeface="CMU Typewriter Text Regular"/>
              </a:rPr>
              <a:t>0 1 0 0 1 0 0 = 36</a:t>
            </a:r>
            <a:endParaRPr lang="en-US" sz="4800" dirty="0">
              <a:latin typeface="CMU Typewriter Text Regular"/>
              <a:cs typeface="CMU Typewriter Text Regular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9323" y="3632610"/>
            <a:ext cx="66478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 smtClean="0">
                <a:latin typeface="CMU Typewriter Text Regular"/>
                <a:cs typeface="CMU Typewriter Text Regular"/>
              </a:rPr>
              <a:t>0 0 1 0 1 1 0 0 = 44</a:t>
            </a:r>
            <a:endParaRPr lang="en-US" sz="4800" dirty="0">
              <a:latin typeface="CMU Typewriter Text Regular"/>
              <a:cs typeface="CMU Typewriter Text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815517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4" grpId="1"/>
      <p:bldP spid="3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Crossover Results</a:t>
            </a:r>
            <a:endParaRPr lang="en-US" dirty="0"/>
          </a:p>
        </p:txBody>
      </p:sp>
      <p:pic>
        <p:nvPicPr>
          <p:cNvPr id="5" name="Picture 4" descr="oneptcros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0928" y="1659467"/>
            <a:ext cx="3145872" cy="2286000"/>
          </a:xfrm>
          <a:prstGeom prst="rect">
            <a:avLst/>
          </a:prstGeom>
        </p:spPr>
      </p:pic>
      <p:pic>
        <p:nvPicPr>
          <p:cNvPr id="6" name="Picture 5" descr="twoptcross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59467"/>
            <a:ext cx="3140110" cy="2286000"/>
          </a:xfrm>
          <a:prstGeom prst="rect">
            <a:avLst/>
          </a:prstGeom>
        </p:spPr>
      </p:pic>
      <p:pic>
        <p:nvPicPr>
          <p:cNvPr id="7" name="Picture 6" descr="unifcross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1945" y="4143925"/>
            <a:ext cx="314011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6810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Mutation Results</a:t>
            </a:r>
            <a:endParaRPr lang="en-US" dirty="0"/>
          </a:p>
        </p:txBody>
      </p:sp>
      <p:pic>
        <p:nvPicPr>
          <p:cNvPr id="4" name="Picture 3" descr="mutgauss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2520959"/>
            <a:ext cx="3657600" cy="2662733"/>
          </a:xfrm>
          <a:prstGeom prst="rect">
            <a:avLst/>
          </a:prstGeom>
        </p:spPr>
      </p:pic>
      <p:pic>
        <p:nvPicPr>
          <p:cNvPr id="5" name="Picture 4" descr="mutflipbi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2520959"/>
            <a:ext cx="3657600" cy="266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61261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kley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933" y="2523064"/>
            <a:ext cx="3483429" cy="3657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Ackley’s Function</a:t>
            </a:r>
            <a:endParaRPr lang="en-US" dirty="0"/>
          </a:p>
        </p:txBody>
      </p:sp>
      <p:pic>
        <p:nvPicPr>
          <p:cNvPr id="5" name="Picture 4" descr="ackleyeq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4" y="1773710"/>
            <a:ext cx="7410292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9462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Ackley’s Function</a:t>
            </a:r>
            <a:endParaRPr lang="en-US" dirty="0"/>
          </a:p>
        </p:txBody>
      </p:sp>
      <p:pic>
        <p:nvPicPr>
          <p:cNvPr id="5" name="Picture 4" descr="ackleyeq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4" y="1773710"/>
            <a:ext cx="7410292" cy="365760"/>
          </a:xfrm>
          <a:prstGeom prst="rect">
            <a:avLst/>
          </a:prstGeom>
        </p:spPr>
      </p:pic>
      <p:pic>
        <p:nvPicPr>
          <p:cNvPr id="6" name="Picture 5" descr="ackley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933" y="2523064"/>
            <a:ext cx="3483429" cy="3657600"/>
          </a:xfrm>
          <a:prstGeom prst="rect">
            <a:avLst/>
          </a:prstGeom>
        </p:spPr>
      </p:pic>
      <p:pic>
        <p:nvPicPr>
          <p:cNvPr id="3" name="Picture 2" descr="ackley1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933" y="2523064"/>
            <a:ext cx="3483429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19963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inhkornout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94011"/>
            <a:ext cx="3810000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</a:t>
            </a:r>
            <a:r>
              <a:rPr lang="en-US" dirty="0" err="1" smtClean="0"/>
              <a:t>Binh</a:t>
            </a:r>
            <a:r>
              <a:rPr lang="en-US" dirty="0" smtClean="0"/>
              <a:t> and </a:t>
            </a:r>
            <a:r>
              <a:rPr lang="en-US" dirty="0" err="1" smtClean="0"/>
              <a:t>Korn</a:t>
            </a:r>
            <a:r>
              <a:rPr lang="en-US" dirty="0" smtClean="0"/>
              <a:t> Function</a:t>
            </a:r>
            <a:endParaRPr lang="en-US" dirty="0"/>
          </a:p>
        </p:txBody>
      </p:sp>
      <p:pic>
        <p:nvPicPr>
          <p:cNvPr id="6" name="Picture 5" descr="binhkornin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35" y="3594011"/>
            <a:ext cx="3761243" cy="2743200"/>
          </a:xfrm>
          <a:prstGeom prst="rect">
            <a:avLst/>
          </a:prstGeom>
        </p:spPr>
      </p:pic>
      <p:pic>
        <p:nvPicPr>
          <p:cNvPr id="14" name="Picture 13" descr="binhkorneq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610975"/>
            <a:ext cx="3570052" cy="457200"/>
          </a:xfrm>
          <a:prstGeom prst="rect">
            <a:avLst/>
          </a:prstGeom>
        </p:spPr>
      </p:pic>
      <p:pic>
        <p:nvPicPr>
          <p:cNvPr id="16" name="Picture 15" descr="binhkornbounds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752" y="2833557"/>
            <a:ext cx="2166702" cy="320993"/>
          </a:xfrm>
          <a:prstGeom prst="rect">
            <a:avLst/>
          </a:prstGeom>
        </p:spPr>
      </p:pic>
      <p:pic>
        <p:nvPicPr>
          <p:cNvPr id="17" name="Picture 16" descr="binhkorneq2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2178397"/>
            <a:ext cx="479611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5805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inhkornout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94011"/>
            <a:ext cx="3810000" cy="2743200"/>
          </a:xfrm>
          <a:prstGeom prst="rect">
            <a:avLst/>
          </a:prstGeom>
        </p:spPr>
      </p:pic>
      <p:pic>
        <p:nvPicPr>
          <p:cNvPr id="11" name="Picture 10" descr="binhkornin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35" y="3594011"/>
            <a:ext cx="3761243" cy="2743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</a:t>
            </a:r>
            <a:r>
              <a:rPr lang="en-US" dirty="0" err="1" smtClean="0"/>
              <a:t>Binh</a:t>
            </a:r>
            <a:r>
              <a:rPr lang="en-US" dirty="0" smtClean="0"/>
              <a:t> and </a:t>
            </a:r>
            <a:r>
              <a:rPr lang="en-US" dirty="0" err="1" smtClean="0"/>
              <a:t>Korn</a:t>
            </a:r>
            <a:r>
              <a:rPr lang="en-US" dirty="0" smtClean="0"/>
              <a:t> Function</a:t>
            </a:r>
            <a:endParaRPr lang="en-US" dirty="0"/>
          </a:p>
        </p:txBody>
      </p:sp>
      <p:pic>
        <p:nvPicPr>
          <p:cNvPr id="12" name="Picture 11" descr="binhkornout1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3594011"/>
            <a:ext cx="3810000" cy="2743200"/>
          </a:xfrm>
          <a:prstGeom prst="rect">
            <a:avLst/>
          </a:prstGeom>
        </p:spPr>
      </p:pic>
      <p:pic>
        <p:nvPicPr>
          <p:cNvPr id="13" name="Picture 12" descr="binhkornin10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34" y="3594011"/>
            <a:ext cx="3761243" cy="2743200"/>
          </a:xfrm>
          <a:prstGeom prst="rect">
            <a:avLst/>
          </a:prstGeom>
        </p:spPr>
      </p:pic>
      <p:pic>
        <p:nvPicPr>
          <p:cNvPr id="14" name="Picture 13" descr="binhkorneq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1610975"/>
            <a:ext cx="3570052" cy="457200"/>
          </a:xfrm>
          <a:prstGeom prst="rect">
            <a:avLst/>
          </a:prstGeom>
        </p:spPr>
      </p:pic>
      <p:pic>
        <p:nvPicPr>
          <p:cNvPr id="16" name="Picture 15" descr="binhkornbounds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0752" y="2833557"/>
            <a:ext cx="2166702" cy="320993"/>
          </a:xfrm>
          <a:prstGeom prst="rect">
            <a:avLst/>
          </a:prstGeom>
        </p:spPr>
      </p:pic>
      <p:pic>
        <p:nvPicPr>
          <p:cNvPr id="17" name="Picture 16" descr="binhkorneq2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600" y="2178397"/>
            <a:ext cx="4796118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46766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</a:t>
            </a:r>
            <a:r>
              <a:rPr lang="en-US" dirty="0" err="1" smtClean="0"/>
              <a:t>Kursawe</a:t>
            </a:r>
            <a:r>
              <a:rPr lang="en-US" dirty="0" smtClean="0"/>
              <a:t> Function</a:t>
            </a:r>
            <a:endParaRPr lang="en-US" dirty="0"/>
          </a:p>
        </p:txBody>
      </p:sp>
      <p:pic>
        <p:nvPicPr>
          <p:cNvPr id="4" name="Picture 3" descr="kursaweout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94011"/>
            <a:ext cx="3824164" cy="2743200"/>
          </a:xfrm>
          <a:prstGeom prst="rect">
            <a:avLst/>
          </a:prstGeom>
        </p:spPr>
      </p:pic>
      <p:pic>
        <p:nvPicPr>
          <p:cNvPr id="5" name="Picture 4" descr="kursawein0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36" y="3594011"/>
            <a:ext cx="3761242" cy="2743200"/>
          </a:xfrm>
          <a:prstGeom prst="rect">
            <a:avLst/>
          </a:prstGeom>
        </p:spPr>
      </p:pic>
      <p:pic>
        <p:nvPicPr>
          <p:cNvPr id="7" name="Picture 6" descr="kursaweeq1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647" y="1471815"/>
            <a:ext cx="4369847" cy="685800"/>
          </a:xfrm>
          <a:prstGeom prst="rect">
            <a:avLst/>
          </a:prstGeom>
        </p:spPr>
      </p:pic>
      <p:pic>
        <p:nvPicPr>
          <p:cNvPr id="14" name="Picture 13" descr="kursaweeq2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647" y="2270006"/>
            <a:ext cx="3275971" cy="685800"/>
          </a:xfrm>
          <a:prstGeom prst="rect">
            <a:avLst/>
          </a:prstGeom>
        </p:spPr>
      </p:pic>
      <p:pic>
        <p:nvPicPr>
          <p:cNvPr id="16" name="Picture 15" descr="kursawebounds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355" y="3132139"/>
            <a:ext cx="1824563" cy="2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02470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Results: </a:t>
            </a:r>
            <a:r>
              <a:rPr lang="en-US" dirty="0" err="1" smtClean="0"/>
              <a:t>Kursawe</a:t>
            </a:r>
            <a:r>
              <a:rPr lang="en-US" dirty="0" smtClean="0"/>
              <a:t> Function</a:t>
            </a:r>
            <a:endParaRPr lang="en-US" dirty="0"/>
          </a:p>
        </p:txBody>
      </p:sp>
      <p:pic>
        <p:nvPicPr>
          <p:cNvPr id="6" name="Picture 5" descr="kursawein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35" y="3594011"/>
            <a:ext cx="3761243" cy="2743200"/>
          </a:xfrm>
          <a:prstGeom prst="rect">
            <a:avLst/>
          </a:prstGeom>
        </p:spPr>
      </p:pic>
      <p:pic>
        <p:nvPicPr>
          <p:cNvPr id="7" name="Picture 6" descr="kursaweout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94011"/>
            <a:ext cx="3824164" cy="2743200"/>
          </a:xfrm>
          <a:prstGeom prst="rect">
            <a:avLst/>
          </a:prstGeom>
        </p:spPr>
      </p:pic>
      <p:pic>
        <p:nvPicPr>
          <p:cNvPr id="10" name="Picture 9" descr="kursawein2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2635" y="3594011"/>
            <a:ext cx="3761243" cy="2743200"/>
          </a:xfrm>
          <a:prstGeom prst="rect">
            <a:avLst/>
          </a:prstGeom>
        </p:spPr>
      </p:pic>
      <p:pic>
        <p:nvPicPr>
          <p:cNvPr id="11" name="Picture 10" descr="kursaweout20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594011"/>
            <a:ext cx="3824164" cy="2743200"/>
          </a:xfrm>
          <a:prstGeom prst="rect">
            <a:avLst/>
          </a:prstGeom>
        </p:spPr>
      </p:pic>
      <p:pic>
        <p:nvPicPr>
          <p:cNvPr id="12" name="Picture 11" descr="kursaweeq1.png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647" y="1471815"/>
            <a:ext cx="4369847" cy="685800"/>
          </a:xfrm>
          <a:prstGeom prst="rect">
            <a:avLst/>
          </a:prstGeom>
        </p:spPr>
      </p:pic>
      <p:pic>
        <p:nvPicPr>
          <p:cNvPr id="13" name="Picture 12" descr="kursaweeq2.p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8647" y="2270006"/>
            <a:ext cx="3275971" cy="685800"/>
          </a:xfrm>
          <a:prstGeom prst="rect">
            <a:avLst/>
          </a:prstGeom>
        </p:spPr>
      </p:pic>
      <p:pic>
        <p:nvPicPr>
          <p:cNvPr id="14" name="Picture 13" descr="kursawebounds.png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355" y="3132139"/>
            <a:ext cx="1824563" cy="213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9109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4237</TotalTime>
  <Words>158</Words>
  <Application>Microsoft Macintosh PowerPoint</Application>
  <PresentationFormat>On-screen Show (4:3)</PresentationFormat>
  <Paragraphs>48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Clarity</vt:lpstr>
      <vt:lpstr>Multi-objective optimization using genetic algorithms</vt:lpstr>
      <vt:lpstr>Definitions</vt:lpstr>
      <vt:lpstr>Genetic Algorithm</vt:lpstr>
      <vt:lpstr>Selection</vt:lpstr>
      <vt:lpstr>Crossover</vt:lpstr>
      <vt:lpstr>Mutation</vt:lpstr>
      <vt:lpstr>Crossover Results</vt:lpstr>
      <vt:lpstr>Mutation Results</vt:lpstr>
      <vt:lpstr>Results: Ackley’s Function</vt:lpstr>
      <vt:lpstr>Results: Ackley’s Function</vt:lpstr>
      <vt:lpstr>Results: Binh and Korn Function</vt:lpstr>
      <vt:lpstr>Results: Binh and Korn Function</vt:lpstr>
      <vt:lpstr>Results: Kursawe Function</vt:lpstr>
      <vt:lpstr>Results: Kursawe Function</vt:lpstr>
    </vt:vector>
  </TitlesOfParts>
  <Company>Mississippi State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Mikhail Gaerlan</dc:creator>
  <cp:lastModifiedBy>Mikhail Gaerlan</cp:lastModifiedBy>
  <cp:revision>36</cp:revision>
  <cp:lastPrinted>2015-12-05T09:16:32Z</cp:lastPrinted>
  <dcterms:created xsi:type="dcterms:W3CDTF">2015-12-04T00:32:34Z</dcterms:created>
  <dcterms:modified xsi:type="dcterms:W3CDTF">2015-12-08T22:35:35Z</dcterms:modified>
</cp:coreProperties>
</file>